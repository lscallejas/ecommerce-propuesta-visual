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ORADOR:</a:t>
            </a:r>
          </a:p>
          <a:p>
            <a:r>
              <a:t>Buenos días/tardes estimados profesores y jurado examinador. Mi nombre es Daniel Campos y hoy presento la arquitectura, desarrollo e implementación oficial de nuestra plataforma de comercio electrónico multi-arquetipo con panel administrativo, diseñada bajo los más altos estándares de ingeniería de software con Docker y PostgreSQL 16.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ORADOR:</a:t>
            </a:r>
          </a:p>
          <a:p>
            <a:r>
              <a:t>Explicar al jurado que el proyecto nació de una necesidad real: la mayoría de los e-commerce sufren problemas de stock cuando dos usuarios compran la última unidad al mismo tiempo. Nuestra meta fue crear una plataforma real, resistente a fallos, basada en PostgreSQL 16 y Docker Compose.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ORADOR:</a:t>
            </a:r>
          </a:p>
          <a:p>
            <a:r>
              <a:t>Destacar que Nginx actúa como reverse proxy. El navegador sólo conoce el puerto 8080. Nginx recibe el tráfico y reenvía internamente las solicitudes de /api/* hacia el backend en el puerto 3000, evitando problemas de CORS y garantizando seguridad en la infraestructura.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ORADOR:</a:t>
            </a:r>
          </a:p>
          <a:p>
            <a:r>
              <a:t>Punto crítico para el jurado: Enfatizar que en order_items se guarda el unit_price del momento de la compra. Si en el futuro el producto sube de $50 a $70 en la tabla products, la orden de venta pasada sigue marcando $50 sin alterar el balance contable histórico. Esto es un principio fundamental de Tercera Forma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ORADOR:</a:t>
            </a:r>
          </a:p>
          <a:p>
            <a:r>
              <a:t>Explicar que las bases de datos modernas no son simples depósitos de tablas, sino motores de cálculo. La vista v_inventory_financials permite responder inmediatamente preguntas de negocio: ¿cuánto vale hoy mi inventario? y ¿cuál es el margen promedio de mis productos de audio?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ORADOR:</a:t>
            </a:r>
          </a:p>
          <a:p>
            <a:r>
              <a:t>Aclarar al evaluador que el proyecto está diseñado con alta tolerancia a fallos: si una persona no tiene Docker, puede usar el script 'iniciar_demo.bat' en modo offline/portátil sin romper nada.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ORADOR:</a:t>
            </a:r>
          </a:p>
          <a:p>
            <a:r>
              <a:t>Esta lámina es tu guía durante la demostración en vivo con la laptop. Sigue el orden de las 4 acciones: 1) Creación de datos, 2) Actualización de pedidos, 3) Prueba de apagado y reinicio sin pérdida de datos, y 4) Ventana modal de telemetría.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ORADOR:</a:t>
            </a:r>
          </a:p>
          <a:p>
            <a:r>
              <a:t>Si los evaluadores preguntan por seguridad o concurrencia, memoriza estas tres palabras clave: ACID, Transacciones Atómicas con Prepared Statements, y Restricciones CHECK en hardware/motor.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ORADOR:</a:t>
            </a:r>
          </a:p>
          <a:p>
            <a:r>
              <a:t>Agradecer sinceramente a los profesores y al jurado por su tiempo y evaluación, y dar paso formal a la ronda de preguntas invitándolos a consultar cualquier aspecto del código, de la base de datos o de la contenerización en Docker.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0B981"/>
                </a:solidFill>
                <a:latin typeface="Arial"/>
              </a:rPr>
              <a:t>PROYECTO DE GRADO &amp; DEFENSA TÉCNICA OFICIAL</a:t>
            </a:r>
          </a:p>
          <a:p>
            <a:pPr>
              <a:spcBef>
                <a:spcPts val="1200"/>
              </a:spcBef>
            </a:pPr>
            <a:r>
              <a:rPr sz="3600" b="1">
                <a:solidFill>
                  <a:srgbClr val="FFFFFF"/>
                </a:solidFill>
                <a:latin typeface="Arial"/>
              </a:rPr>
              <a:t>PLATAFORMA E-COMMERCE OFICIAL
Y PANEL ADMINISTRATIVO</a:t>
            </a:r>
          </a:p>
          <a:p>
            <a:pPr>
              <a:spcBef>
                <a:spcPts val="1200"/>
              </a:spcBef>
            </a:pPr>
            <a:r>
              <a:rPr sz="1600">
                <a:solidFill>
                  <a:srgbClr val="94A3B8"/>
                </a:solidFill>
                <a:latin typeface="Arial"/>
              </a:rPr>
              <a:t>Arquitectura Desacoplada de 3 Niveles • Motor Relacional PostgreSQL 16 (ACID) • Docker Compose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5120640"/>
            <a:ext cx="10362895" cy="10972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5257800"/>
            <a:ext cx="9784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FFFFFF"/>
                </a:solidFill>
              </a:rPr>
              <a:t>Autor &amp; Administrador del Sistema: </a:t>
            </a:r>
            <a:r>
              <a:rPr b="1" sz="1300">
                <a:solidFill>
                  <a:srgbClr val="2563EB"/>
                </a:solidFill>
              </a:rPr>
              <a:t>Daniel Campos  |  </a:t>
            </a:r>
            <a:r>
              <a:rPr sz="1200">
                <a:solidFill>
                  <a:srgbClr val="CBD5E1"/>
                </a:solidFill>
              </a:rPr>
              <a:t>Contacto: daniel@tienda.com
</a:t>
            </a:r>
          </a:p>
          <a:p>
            <a:r>
              <a:rPr b="1" sz="1100">
                <a:solidFill>
                  <a:srgbClr val="FFFFFF"/>
                </a:solidFill>
              </a:rPr>
              <a:t>Repositorio GitHub: </a:t>
            </a:r>
            <a:r>
              <a:rPr sz="1100">
                <a:solidFill>
                  <a:srgbClr val="94A3B8"/>
                </a:solidFill>
              </a:rPr>
              <a:t>https://github.com/LsCallejas/ecommerce-propuesta-visual  |  Octubre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2563EB"/>
                </a:solidFill>
                <a:latin typeface="Arial"/>
              </a:rPr>
              <a:t>CONTEXTO Y MOTIVACIÓN</a:t>
            </a:r>
          </a:p>
          <a:p>
            <a:r>
              <a:rPr sz="2200" b="1">
                <a:solidFill>
                  <a:srgbClr val="0F172A"/>
                </a:solidFill>
                <a:latin typeface="Arial"/>
              </a:rPr>
              <a:t>Planteamiento del Problema y Objetivos del Proyecto</a:t>
            </a:r>
          </a:p>
          <a:p>
            <a:r>
              <a:rPr sz="1100">
                <a:solidFill>
                  <a:srgbClr val="64748B"/>
                </a:solidFill>
                <a:latin typeface="Arial"/>
              </a:rPr>
              <a:t>Superando las limitaciones tradicionales de los e-commerce monolíticos y de memoria efímera.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28416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2871216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rial"/>
              </a:rPr>
              <a:t>1. Desafío de la Industria</a:t>
            </a:r>
          </a:p>
          <a:p>
            <a:r>
              <a:rPr sz="1000">
                <a:solidFill>
                  <a:srgbClr val="64748B"/>
                </a:solidFill>
                <a:latin typeface="Arial"/>
              </a:rPr>
              <a:t>Riesgos en sistemas tradicionales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560320"/>
            <a:ext cx="287121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Inconsistencia de Datos: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Bases de datos no relacionales sufren de sobreventa (overselling) durante picos de compras concurrentes.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Pérdida de Información: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Muchos proyectos académicos o prototipos operan en memoria local o SQLite sin persistencia desacoplada.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Rigidez de Diseño: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Sistemas convencionales no permiten adaptar la imagen corporativa sin rehacer código.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645920"/>
            <a:ext cx="3328416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54296" y="1828800"/>
            <a:ext cx="2871216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rial"/>
              </a:rPr>
              <a:t>2. Nuestra Solución</a:t>
            </a:r>
          </a:p>
          <a:p>
            <a:r>
              <a:rPr sz="1000">
                <a:solidFill>
                  <a:srgbClr val="64748B"/>
                </a:solidFill>
                <a:latin typeface="Arial"/>
              </a:rPr>
              <a:t>Arquitectura modular moderna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54296" y="2560320"/>
            <a:ext cx="287121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Transacciones ACID: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PostgreSQL 16 garantiza atomicidad total en compras, bloqueos y control estricto de existencias.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Contenerización Total: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3 contenedores Docker (Web, API, DB) orquestados en red privada con volumen de datos inmutable.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Motor Multi-Arquetipo: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Capacidad de alternar paletas, estilos y temáticas en tiempo real desde el panel administrativo.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19872" y="1645920"/>
            <a:ext cx="3328416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48472" y="1828800"/>
            <a:ext cx="2871216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rial"/>
              </a:rPr>
              <a:t>3. Objetivos Logrados</a:t>
            </a:r>
          </a:p>
          <a:p>
            <a:r>
              <a:rPr sz="1000">
                <a:solidFill>
                  <a:srgbClr val="64748B"/>
                </a:solidFill>
                <a:latin typeface="Arial"/>
              </a:rPr>
              <a:t>Validación funcional y técnica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48472" y="2560320"/>
            <a:ext cx="287121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Despliegue en 1 Clic: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Ejecución transparente en Windows con scripts híbridos de detección automática WSL/Docker.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Auditoría Financiera: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Vistas SQL analíticas para el cálculo dinámico de márgenes de utilidad y valoración del inventario.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Alta Portabilidad: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Código modular estructurado (frontend, backend, database, docs, scripts) disponible en GitHub.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2563EB"/>
                </a:solidFill>
                <a:latin typeface="Arial"/>
              </a:rPr>
              <a:t>ARQUITECTURA DE SOFTWARE</a:t>
            </a:r>
          </a:p>
          <a:p>
            <a:r>
              <a:rPr sz="2200" b="1">
                <a:solidFill>
                  <a:srgbClr val="0F172A"/>
                </a:solidFill>
                <a:latin typeface="Arial"/>
              </a:rPr>
              <a:t>Topología Desacoplada de 3 Niveles en Docker</a:t>
            </a:r>
          </a:p>
          <a:p>
            <a:r>
              <a:rPr sz="1100">
                <a:solidFill>
                  <a:srgbClr val="64748B"/>
                </a:solidFill>
                <a:latin typeface="Arial"/>
              </a:rPr>
              <a:t>Separación estricta de responsabilidades entre presentación, lógica de negocio y persistencia.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728655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102714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rial"/>
              </a:rPr>
              <a:t>Nivel 1: Capa de Presentación (Frontend Web &amp; Proxy)</a:t>
            </a:r>
          </a:p>
          <a:p>
            <a:r>
              <a:rPr sz="1000">
                <a:solidFill>
                  <a:srgbClr val="64748B"/>
                </a:solidFill>
                <a:latin typeface="Arial"/>
              </a:rPr>
              <a:t>Contenedor: ecommerce_web_app  |  Nginx 1.25 Alpine  |  Puerto Host: 8080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240280"/>
            <a:ext cx="102714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• Tecnologías: HTML5 Semántico, Vanilla CSS3 sin dependencias pesadas, ES6+ Modular.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• Función: Sirve el catálogo al cliente y el panel backoffice. Enruta transparentemente peticiones '/api/*' hacia la API interna.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154680"/>
            <a:ext cx="10728655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337560"/>
            <a:ext cx="102714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rial"/>
              </a:rPr>
              <a:t>Nivel 2: Capa de Servicios y Lógica (REST API)</a:t>
            </a:r>
          </a:p>
          <a:p>
            <a:r>
              <a:rPr sz="1000">
                <a:solidFill>
                  <a:srgbClr val="64748B"/>
                </a:solidFill>
                <a:latin typeface="Arial"/>
              </a:rPr>
              <a:t>Contenedor: ecommerce_api_service  |  Node.js 20 LTS + Express  |  Puerto Interno: 3000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749039"/>
            <a:ext cx="102714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• Tecnologías: Express REST API, Driver oficial 'pg' con Connection Pool (máx. 20 conexiones).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• Función: Validaciones de negocio, consultas parametrizadas anti SQL Injection y sincronización bidireccional en tiempo real.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663440"/>
            <a:ext cx="10728655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846320"/>
            <a:ext cx="102714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rial"/>
              </a:rPr>
              <a:t>Nivel 3: Capa de Datos Transaccional (Database)</a:t>
            </a:r>
          </a:p>
          <a:p>
            <a:r>
              <a:rPr sz="1000">
                <a:solidFill>
                  <a:srgbClr val="64748B"/>
                </a:solidFill>
                <a:latin typeface="Arial"/>
              </a:rPr>
              <a:t>Contenedor: ecommerce_postgres_db  |  PostgreSQL 16.15 Alpine  |  Puerto: 5432:5432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5257800"/>
            <a:ext cx="102714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• Tecnologías: Motor PostgreSQL 16 con volumen persistente 'ecommerce_postgres_data'.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• Función: Modelo relacional 3FN, transacciones ACID, constraints CHECK, integridad referencial y vistas analíticas de negocio.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2563EB"/>
                </a:solidFill>
                <a:latin typeface="Arial"/>
              </a:rPr>
              <a:t>PERSISTENCIA RELACIONAL</a:t>
            </a:r>
          </a:p>
          <a:p>
            <a:r>
              <a:rPr sz="2200" b="1">
                <a:solidFill>
                  <a:srgbClr val="0F172A"/>
                </a:solidFill>
                <a:latin typeface="Arial"/>
              </a:rPr>
              <a:t>Estructura del Modelo de Datos (Tercera Forma Normal - 3FN)</a:t>
            </a:r>
          </a:p>
          <a:p>
            <a:r>
              <a:rPr sz="1100">
                <a:solidFill>
                  <a:srgbClr val="64748B"/>
                </a:solidFill>
                <a:latin typeface="Arial"/>
              </a:rPr>
              <a:t>7 tablas estructuradas para eliminar redundancias y garantizar la coherencia contable.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75504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718304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rial"/>
              </a:rPr>
              <a:t>Catálogo y Proveedores (products, suppliers)</a:t>
            </a:r>
          </a:p>
          <a:p>
            <a:r>
              <a:rPr sz="1000">
                <a:solidFill>
                  <a:srgbClr val="64748B"/>
                </a:solidFill>
                <a:latin typeface="Arial"/>
              </a:rPr>
              <a:t>Cadena de valor comercial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31720"/>
            <a:ext cx="480974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• products: PK id, SKU y slug únicos, precio costo y venta, restricción CHECK (stock &gt;= 0).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• suppliers: Fabricantes internacionales, términos de pago (crédito/contado), rating y monto invertido.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• Relación: products.supplier_id -&gt; suppliers.id (ON DELETE SET NULL).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977639"/>
            <a:ext cx="5175504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160519"/>
            <a:ext cx="4718304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rial"/>
              </a:rPr>
              <a:t>Inversiones y Configuración (purchases, store_config)</a:t>
            </a:r>
          </a:p>
          <a:p>
            <a:r>
              <a:rPr sz="1000">
                <a:solidFill>
                  <a:srgbClr val="64748B"/>
                </a:solidFill>
                <a:latin typeface="Arial"/>
              </a:rPr>
              <a:t>Abastecimiento y personalización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663440"/>
            <a:ext cx="480974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• purchases: Lotes de abastecimiento con FK a suppliers.id, unidades adquiridas y costo total de compra.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• store_config: Configuración dinámica de marca, banners, logotipos y selector de arquetipo visual.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2784" y="1645920"/>
            <a:ext cx="5175504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1384" y="1828800"/>
            <a:ext cx="4718304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rial"/>
              </a:rPr>
              <a:t>Ventas y Detalle (orders, order_items)</a:t>
            </a:r>
          </a:p>
          <a:p>
            <a:r>
              <a:rPr sz="1000">
                <a:solidFill>
                  <a:srgbClr val="64748B"/>
                </a:solidFill>
                <a:latin typeface="Arial"/>
              </a:rPr>
              <a:t>Transaccionalidad del cliente (Relación N:M)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331720"/>
            <a:ext cx="480974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• orders: Cabecera con datos del comprador, total, método de pago y estados: Pendiente, Enviado, Entregado.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• order_items: Detalle de productos por orden. Clave de diseño: Congela el unit_price histórico para preservar la integridad contable ante futuras variaciones de precios.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2784" y="3977639"/>
            <a:ext cx="5175504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1384" y="4160519"/>
            <a:ext cx="4718304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rial"/>
              </a:rPr>
              <a:t>Seguridad y Accesos (users)</a:t>
            </a:r>
          </a:p>
          <a:p>
            <a:r>
              <a:rPr sz="1000">
                <a:solidFill>
                  <a:srgbClr val="64748B"/>
                </a:solidFill>
                <a:latin typeface="Arial"/>
              </a:rPr>
              <a:t>Control de acceso basado en roles (RBAC)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5664" y="4663440"/>
            <a:ext cx="480974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• users: Identificación de usuarios con correos únicos (UK) y contraseñas cifradas con hash Bcrypt.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• Control RBAC: Restricción CHECK (role IN ('admin', 'cliente')). Administrador oficial: Daniel Campos.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2563EB"/>
                </a:solidFill>
                <a:latin typeface="Arial"/>
              </a:rPr>
              <a:t>INTELIGENCIA DE NEGOCIO &amp; PERFORMANCE</a:t>
            </a:r>
          </a:p>
          <a:p>
            <a:r>
              <a:rPr sz="2200" b="1">
                <a:solidFill>
                  <a:srgbClr val="0F172A"/>
                </a:solidFill>
                <a:latin typeface="Arial"/>
              </a:rPr>
              <a:t>Vista Analítica Financiera y Optimización B-Tree</a:t>
            </a:r>
          </a:p>
          <a:p>
            <a:r>
              <a:rPr sz="1100">
                <a:solidFill>
                  <a:srgbClr val="64748B"/>
                </a:solidFill>
                <a:latin typeface="Arial"/>
              </a:rPr>
              <a:t>Lógica de negocio ejecutada directamente en el motor de base de datos para máxima velocidad.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621792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57607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rial"/>
              </a:rPr>
              <a:t>Vista Analítica: v_inventory_financials</a:t>
            </a:r>
          </a:p>
          <a:p>
            <a:r>
              <a:rPr sz="1000">
                <a:solidFill>
                  <a:srgbClr val="64748B"/>
                </a:solidFill>
                <a:latin typeface="Arial"/>
              </a:rPr>
              <a:t>Cálculo en vivo sin redundancia de datos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468880"/>
            <a:ext cx="5760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F172A"/>
                </a:solidFill>
              </a:defRPr>
            </a:pPr>
            <a:r>
              <a:t>Une en tiempo real las tablas 'products' y 'suppliers' para ofrecer indicadores clave de rendimiento (KPIs):</a:t>
            </a:r>
          </a:p>
          <a:p>
            <a:pPr>
              <a:defRPr sz="1100">
                <a:solidFill>
                  <a:srgbClr val="0F172A"/>
                </a:solidFill>
              </a:defRPr>
            </a:pP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Ganancia Unitaria: (sale_price - cost_price)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Margen Comercial: ((sale_price - cost_price) / sale_price) * 100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Capital Inmovilizado: (cost_price * stock)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Ingreso Proyectado: (sale_price * stock)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Utilidad Bruta Proyectada: ((sale_price - cost_price) * stock)</a:t>
            </a:r>
          </a:p>
          <a:p>
            <a:pPr>
              <a:defRPr sz="1100">
                <a:solidFill>
                  <a:srgbClr val="0F172A"/>
                </a:solidFill>
              </a:defRPr>
            </a:pP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Ventaja: Los directivos obtienen reportes financieros inmediatos sin necesidad de procesar bucles complejos en el servidor de aplicaciones.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0" y="1645920"/>
            <a:ext cx="4327855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60920" y="1828800"/>
            <a:ext cx="3870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rial"/>
              </a:rPr>
              <a:t>Estrategia de Indexación</a:t>
            </a:r>
          </a:p>
          <a:p>
            <a:r>
              <a:rPr sz="1000">
                <a:solidFill>
                  <a:srgbClr val="64748B"/>
                </a:solidFill>
                <a:latin typeface="Arial"/>
              </a:rPr>
              <a:t>Optimización algorítmica O(log 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60920" y="2468880"/>
            <a:ext cx="3840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F172A"/>
                </a:solidFill>
              </a:defRPr>
            </a:pPr>
            <a:r>
              <a:t>Se implementaron 5 índices B-Tree específicos:</a:t>
            </a:r>
          </a:p>
          <a:p>
            <a:pPr>
              <a:defRPr sz="1100">
                <a:solidFill>
                  <a:srgbClr val="0F172A"/>
                </a:solidFill>
              </a:defRPr>
            </a:pP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1. idx_products_sku: Búsqueda instantánea de inventario por código de barra.</a:t>
            </a:r>
          </a:p>
          <a:p>
            <a:pPr>
              <a:defRPr sz="1100">
                <a:solidFill>
                  <a:srgbClr val="0F172A"/>
                </a:solidFill>
              </a:defRPr>
            </a:pP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2. idx_products_category: Filtrado veloz de categorías en el catálogo del cliente.</a:t>
            </a:r>
          </a:p>
          <a:p>
            <a:pPr>
              <a:defRPr sz="1100">
                <a:solidFill>
                  <a:srgbClr val="0F172A"/>
                </a:solidFill>
              </a:defRPr>
            </a:pP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3. idx_orders_status: Consulta ágil de órdenes pendientes en el panel admin.</a:t>
            </a:r>
          </a:p>
          <a:p>
            <a:pPr>
              <a:defRPr sz="1100">
                <a:solidFill>
                  <a:srgbClr val="0F172A"/>
                </a:solidFill>
              </a:defRPr>
            </a:pP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4. idx_orders_date: Reportes cronológicos y auditoría contable.</a:t>
            </a:r>
          </a:p>
          <a:p>
            <a:pPr>
              <a:defRPr sz="1100">
                <a:solidFill>
                  <a:srgbClr val="0F172A"/>
                </a:solidFill>
              </a:defRPr>
            </a:pP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5. idx_users_email: Autenticación segura de usuarios en milisegundos.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2563EB"/>
                </a:solidFill>
                <a:latin typeface="Arial"/>
              </a:rPr>
              <a:t>DESPLIEGUE E INFRAESTRUCTURA</a:t>
            </a:r>
          </a:p>
          <a:p>
            <a:r>
              <a:rPr sz="2200" b="1">
                <a:solidFill>
                  <a:srgbClr val="0F172A"/>
                </a:solidFill>
                <a:latin typeface="Arial"/>
              </a:rPr>
              <a:t>Guía Paso a Paso para Ejecución en Windows</a:t>
            </a:r>
          </a:p>
          <a:p>
            <a:r>
              <a:rPr sz="1100">
                <a:solidFill>
                  <a:srgbClr val="64748B"/>
                </a:solidFill>
                <a:latin typeface="Arial"/>
              </a:rPr>
              <a:t>Instalación desde cero, automatización y paridad de entornos con Docker.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75504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718304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rial"/>
              </a:rPr>
              <a:t>Paso 1: Habilitar WSL 2</a:t>
            </a:r>
          </a:p>
          <a:p>
            <a:r>
              <a:rPr sz="1000">
                <a:solidFill>
                  <a:srgbClr val="64748B"/>
                </a:solidFill>
                <a:latin typeface="Arial"/>
              </a:rPr>
              <a:t>Kernel Linux en Windows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31720"/>
            <a:ext cx="480974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1. Abrir PowerShell como Administrador.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2. Ejecutar: wsl --install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3. Reiniciar el equipo y configurar usuario de Ubuntu.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4. Verificar con: wsl -l -v (versión 2 confirmada).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72784" y="1645920"/>
            <a:ext cx="5175504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01384" y="1828800"/>
            <a:ext cx="4718304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rial"/>
              </a:rPr>
              <a:t>Paso 2: Instalar Docker</a:t>
            </a:r>
          </a:p>
          <a:p>
            <a:r>
              <a:rPr sz="1000">
                <a:solidFill>
                  <a:srgbClr val="64748B"/>
                </a:solidFill>
                <a:latin typeface="Arial"/>
              </a:rPr>
              <a:t>Entorno de microservicios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5664" y="2331720"/>
            <a:ext cx="480974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• Opción Gráfica: Descargar Docker Desktop con la casilla 'Use WSL 2 based engine' marcada.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• Opción CLI: sudo apt install docker.io docker-compose dentro de Ubuntu WSL.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77639"/>
            <a:ext cx="5175504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160519"/>
            <a:ext cx="4718304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rial"/>
              </a:rPr>
              <a:t>Paso 3: Puesta en Marcha en 1 Clic</a:t>
            </a:r>
          </a:p>
          <a:p>
            <a:r>
              <a:rPr sz="1000">
                <a:solidFill>
                  <a:srgbClr val="64748B"/>
                </a:solidFill>
                <a:latin typeface="Arial"/>
              </a:rPr>
              <a:t>Automatización con docker-iniciar.bat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663440"/>
            <a:ext cx="480974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• Doble clic en 'docker-iniciar.bat'.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• El script detecta el motor Docker, levanta los 3 contenedores y lanza el navegador automáticamente en http://localhost:8080.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2784" y="3977639"/>
            <a:ext cx="5175504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1384" y="4160519"/>
            <a:ext cx="4718304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rial"/>
              </a:rPr>
              <a:t>Paso 4: Accesos y Credenciales</a:t>
            </a:r>
          </a:p>
          <a:p>
            <a:r>
              <a:rPr sz="1000">
                <a:solidFill>
                  <a:srgbClr val="64748B"/>
                </a:solidFill>
                <a:latin typeface="Arial"/>
              </a:rPr>
              <a:t>Pruebas inmediatas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5664" y="4663440"/>
            <a:ext cx="480974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• Tienda: http://localhost:8080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• Panel Admin: http://localhost:8080/admin.html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• Admin: admin@tienda.com / admin123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• Cliente Demo: cliente@tienda.com / 123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2563EB"/>
                </a:solidFill>
                <a:latin typeface="Arial"/>
              </a:rPr>
              <a:t>DEMOSTRACIÓN PRÁCTICA</a:t>
            </a:r>
          </a:p>
          <a:p>
            <a:r>
              <a:rPr sz="2200" b="1">
                <a:solidFill>
                  <a:srgbClr val="0F172A"/>
                </a:solidFill>
                <a:latin typeface="Arial"/>
              </a:rPr>
              <a:t>Secuencia de Alto Impacto para la Defensa Técnica</a:t>
            </a:r>
          </a:p>
          <a:p>
            <a:r>
              <a:rPr sz="1100">
                <a:solidFill>
                  <a:srgbClr val="64748B"/>
                </a:solidFill>
                <a:latin typeface="Arial"/>
              </a:rPr>
              <a:t>4 pasos interactivos en vivo que comprueban la persistencia y la arquitectura ACID.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246888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rial"/>
              </a:rPr>
              <a:t>Acción 1: Crear Producto</a:t>
            </a:r>
          </a:p>
          <a:p>
            <a:r>
              <a:rPr sz="1000">
                <a:solidFill>
                  <a:srgbClr val="64748B"/>
                </a:solidFill>
                <a:latin typeface="Arial"/>
              </a:rPr>
              <a:t>Sincronización Web -&gt; BD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468880"/>
            <a:ext cx="2194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1. Abrir panel admin en http://localhost:8080/admin.html</a:t>
            </a:r>
          </a:p>
          <a:p>
            <a:pPr>
              <a:defRPr sz="1000">
                <a:solidFill>
                  <a:srgbClr val="0F172A"/>
                </a:solidFill>
              </a:defRPr>
            </a:pP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2. Crear producto de prueba con SKU.</a:t>
            </a:r>
          </a:p>
          <a:p>
            <a:pPr>
              <a:defRPr sz="1000">
                <a:solidFill>
                  <a:srgbClr val="0F172A"/>
                </a:solidFill>
              </a:defRPr>
            </a:pP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3. Ejecutar 'consultar_resumen_db.bat'.</a:t>
            </a:r>
          </a:p>
          <a:p>
            <a:pPr>
              <a:defRPr sz="1000">
                <a:solidFill>
                  <a:srgbClr val="0F172A"/>
                </a:solidFill>
              </a:defRPr>
            </a:pP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Resultado: El nuevo producto aparece de inmediato en PostgreSQL con su ID serial.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645920"/>
            <a:ext cx="246888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03320" y="1828800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rial"/>
              </a:rPr>
              <a:t>Acción 2: Modificar Orden</a:t>
            </a:r>
          </a:p>
          <a:p>
            <a:r>
              <a:rPr sz="1000">
                <a:solidFill>
                  <a:srgbClr val="64748B"/>
                </a:solidFill>
                <a:latin typeface="Arial"/>
              </a:rPr>
              <a:t>Flujo Transaccional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1880" y="2468880"/>
            <a:ext cx="2194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1. En el panel admin, cambiar una orden de 'Pendiente' a 'Enviado'.</a:t>
            </a:r>
          </a:p>
          <a:p>
            <a:pPr>
              <a:defRPr sz="1000">
                <a:solidFill>
                  <a:srgbClr val="0F172A"/>
                </a:solidFill>
              </a:defRPr>
            </a:pP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2. Consultar en psql: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SELECT id, status FROM orders;</a:t>
            </a:r>
          </a:p>
          <a:p>
            <a:pPr>
              <a:defRPr sz="1000">
                <a:solidFill>
                  <a:srgbClr val="0F172A"/>
                </a:solidFill>
              </a:defRPr>
            </a:pP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Resultado: El campo status se actualizó en disco con total consistencia.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246888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828800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rial"/>
              </a:rPr>
              <a:t>Acción 3: Tolerancia a Fallos</a:t>
            </a:r>
          </a:p>
          <a:p>
            <a:r>
              <a:rPr sz="1000">
                <a:solidFill>
                  <a:srgbClr val="64748B"/>
                </a:solidFill>
                <a:latin typeface="Arial"/>
              </a:rPr>
              <a:t>Prueba de Fuego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468880"/>
            <a:ext cx="2194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1. Ejecutar 'docker-detener.bat' (la web se cae por completo).</a:t>
            </a:r>
          </a:p>
          <a:p>
            <a:pPr>
              <a:defRPr sz="1000">
                <a:solidFill>
                  <a:srgbClr val="0F172A"/>
                </a:solidFill>
              </a:defRPr>
            </a:pP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2. Ejecutar 'docker-iniciar.bat'.</a:t>
            </a:r>
          </a:p>
          <a:p>
            <a:pPr>
              <a:defRPr sz="1000">
                <a:solidFill>
                  <a:srgbClr val="0F172A"/>
                </a:solidFill>
              </a:defRPr>
            </a:pP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Resultado: Los datos persisten intactos gracias al volumen 'ecommerce_postgres_data'.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1645920"/>
            <a:ext cx="246888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89720" y="1828800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rial"/>
              </a:rPr>
              <a:t>Acción 4: Telemetría en Vivo</a:t>
            </a:r>
          </a:p>
          <a:p>
            <a:r>
              <a:rPr sz="1000">
                <a:solidFill>
                  <a:srgbClr val="64748B"/>
                </a:solidFill>
                <a:latin typeface="Arial"/>
              </a:rPr>
              <a:t>Monitoreo Integrado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80" y="2468880"/>
            <a:ext cx="2194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1. Clic en la pastilla verde 'PostgreSQL 16 (En Vivo)' en la barra superior.</a:t>
            </a:r>
          </a:p>
          <a:p>
            <a:pPr>
              <a:defRPr sz="1000">
                <a:solidFill>
                  <a:srgbClr val="0F172A"/>
                </a:solidFill>
              </a:defRPr>
            </a:pP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2. Ver contadores en tiempo real y sincronización manual directa.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2563EB"/>
                </a:solidFill>
                <a:latin typeface="Arial"/>
              </a:rPr>
              <a:t>DEFENSA ACADÉMICA</a:t>
            </a:r>
          </a:p>
          <a:p>
            <a:r>
              <a:rPr sz="2200" b="1">
                <a:solidFill>
                  <a:srgbClr val="0F172A"/>
                </a:solidFill>
                <a:latin typeface="Arial"/>
              </a:rPr>
              <a:t>Banco de Preguntas Típicas del Jurado y Respuestas Senior</a:t>
            </a:r>
          </a:p>
          <a:p>
            <a:r>
              <a:rPr sz="1100">
                <a:solidFill>
                  <a:srgbClr val="64748B"/>
                </a:solidFill>
                <a:latin typeface="Arial"/>
              </a:rPr>
              <a:t>Argumentación técnica fundamentada para responder con máxima solvencia.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728655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102714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rial"/>
              </a:rPr>
              <a:t>¿Por qué PostgreSQL 16 y no una base NoSQL como MongoDB?</a:t>
            </a:r>
          </a:p>
          <a:p>
            <a:r>
              <a:rPr sz="1000">
                <a:solidFill>
                  <a:srgbClr val="64748B"/>
                </a:solidFill>
                <a:latin typeface="Arial"/>
              </a:rPr>
              <a:t>Justificación transaccional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240280"/>
            <a:ext cx="102714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/>
            </a:pPr>
            <a:r>
              <a:t>En comercio electrónico, la integridad del dinero y del inventario no es negociable. Las bases NoSQL aplican consistencia eventual, propensas a sobreventa de productos. PostgreSQL nos otorga propiedades ACID estrictas, transacciones atómicas y restricciones CHECK a nivel de motor.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154680"/>
            <a:ext cx="10728655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337560"/>
            <a:ext cx="102714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rial"/>
              </a:rPr>
              <a:t>¿Cómo evitan compras duplicadas si dos clientes compran la última unidad a la vez?</a:t>
            </a:r>
          </a:p>
          <a:p>
            <a:r>
              <a:rPr sz="1000">
                <a:solidFill>
                  <a:srgbClr val="64748B"/>
                </a:solidFill>
                <a:latin typeface="Arial"/>
              </a:rPr>
              <a:t>Aislamiento de transacciones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749039"/>
            <a:ext cx="102714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/>
            </a:pPr>
            <a:r>
              <a:t>Mediante transacciones atómicas con bloqueo a nivel de fila y la restricción nativa 'CHECK (stock &gt;= 0)'. Al procesar el checkout, se descuenta stock condicionalmente; si la segunda transacción intenta descontar una unidad inexistente, el motor arroja un error y realiza un ROLLBACK automático.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663440"/>
            <a:ext cx="10728655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846320"/>
            <a:ext cx="102714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rial"/>
              </a:rPr>
              <a:t>¿Cómo protegen la base de datos contra ataques de Inyección SQL?</a:t>
            </a:r>
          </a:p>
          <a:p>
            <a:r>
              <a:rPr sz="1000">
                <a:solidFill>
                  <a:srgbClr val="64748B"/>
                </a:solidFill>
                <a:latin typeface="Arial"/>
              </a:rPr>
              <a:t>Seguridad en la capa de servicios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5257800"/>
            <a:ext cx="102714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/>
            </a:pPr>
            <a:r>
              <a:t>La API utiliza exclusivamente consultas parametrizadas (Prepared Statements) con el driver oficial 'pg'. Ningún parámetro del usuario se concatena a la cadena SQL ($1, $2, etc.); PostgreSQL trata los argumentos estrictamente como valores literales y nunca como código ejecutable.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563EB"/>
                </a:solidFill>
                <a:latin typeface="Arial"/>
              </a:rPr>
              <a:t>CONCLUSIONES Y LOGROS DEL PROYECTO</a:t>
            </a:r>
          </a:p>
          <a:p>
            <a:pPr>
              <a:spcBef>
                <a:spcPts val="800"/>
              </a:spcBef>
            </a:pPr>
            <a:r>
              <a:rPr sz="2800" b="1">
                <a:solidFill>
                  <a:srgbClr val="FFFFFF"/>
                </a:solidFill>
                <a:latin typeface="Arial"/>
              </a:rPr>
              <a:t>Solución de Grado Senior Lista para Producción</a:t>
            </a:r>
          </a:p>
          <a:p>
            <a:pPr>
              <a:spcBef>
                <a:spcPts val="1400"/>
              </a:spcBef>
            </a:pPr>
            <a:r>
              <a:rPr sz="1300">
                <a:solidFill>
                  <a:srgbClr val="CBD5E1"/>
                </a:solidFill>
                <a:latin typeface="Arial"/>
              </a:rPr>
              <a:t>✔ Arquitectura Enterprise:
Desacoplamiento total entre interfaz visual, micro-servicios y persistencia.
✔ Integridad y Fidelidad Contable:
Modelo 3FN que preserva el historial de compras y calcula indicadores financieros en vivo.
✔ Documentación y Respaldo Completo:
Manuales formales en Word (.docx), diagramas de arquitectura y repositorio público versionado en GitHub.
✔ Experiencia de Usuario Superior:
Panel administrativo completo con soporte de arquetipos visuales y telemetría en tiempo real.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5303520"/>
            <a:ext cx="10362895" cy="10058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5440680"/>
            <a:ext cx="9784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500">
                <a:solidFill>
                  <a:srgbClr val="FFFFFF"/>
                </a:solidFill>
              </a:rPr>
              <a:t>¡Muchas gracias por su atención!  </a:t>
            </a:r>
            <a:r>
              <a:rPr sz="1400">
                <a:solidFill>
                  <a:srgbClr val="10B981"/>
                </a:solidFill>
              </a:rPr>
              <a:t>— Sesión de Preguntas y Respuestas Abierta
</a:t>
            </a:r>
            <a:r>
              <a:rPr sz="1100">
                <a:solidFill>
                  <a:srgbClr val="94A3B8"/>
                </a:solidFill>
              </a:rPr>
              <a:t>Daniel Campos  •  daniel@tienda.com  •  https://github.com/LsCallejas/ecommerce-propuesta-visual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