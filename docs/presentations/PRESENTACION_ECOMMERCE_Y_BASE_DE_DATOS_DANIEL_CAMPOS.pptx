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Buenos días/tardes estimados miembros del jurado evaluador y profesores. Mi nombre es Daniel Campos. A continuación presento la defensa técnica y arquitectónica de nuestra plataforma de comercio electrónico profesional, construida siguiendo estrictos principios de ingeniería de software con Docker y PostgreSQL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Enfatizar que el problema no es sólo visual: el gran reto de un e-commerce real es la consistencia transaccional y la fidelidad de los libros contables ante compras simultáneas.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Detallar que los objetivos no se quedaron en papel: cada meta cuenta con artefactos verificables en el repositorio oficial y en los contenedores en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Explicar al jurado que Nginx actúa como fachada única. El cliente nunca se conecta directo a la base de datos ni conoce los puertos internos.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Mencionar que la decisión de usar Vanilla JS demuestra dominio fundamental del lenguaje, sin esconderse detrás de librerías de terceros.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Destacar la versatilidad de negocio: una misma instalación sirve para vender tecnología, ropa de alta gama o productos gourmet con un solo clic.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Punto clave: la API no tiene estado (stateless), lo que facilita escalarla horizontalmente detrás de un balanceador de carga si la demanda crece.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Resaltar que el Connection Pooling es el sello distintivo de una arquitectura de nivel Senior frente a proyectos estudiantiles que crean conexiones infinitas.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Explicar que la integridad del dinero y el inventario requiere ACID. Usar NoSQL en checkout financiero es un antipatrón en la industria.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Demostrar al jurado que el esquema fue diseñado aplicando la teoría de bases de datos de Codd, asegurando pureza estructural.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Mencionar la doble contabilidad en 'products': guardar cost_price y sale_price permite calcular márgenes de ganancia reales en todo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Hacer énfasis en 'order_items.unit_price': este campo congela el precio histórico. Si el producto sube mañana, la venta pasada no se corrompe.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Explicar que esta vista demuestra que la base de datos no es pasiva, sino que actúa como motor analítico de toma de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Destacar que la indexación fue pensada con métricas reales: sku, category y email son los campos con mayor volumen de consultas 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Este diagrama de secuencia es el argumento maestro para explicar cómo se resuelven compras concurrentes sin sobreventa de productos.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Subrayar que el uso de Docker Compose garantiza paridad absoluta: el proyecto corre idéntico en Windows, Linux, Mac o servidores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Aclarar que el script batch detecta automáticamente si Docker está instalado en Windows nativo o dentro de WSL, evitando errores de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Esta lámina sirve como 'hoja de ruta' durante la defensa frente a los profesores para guiar la demostración en vivo paso a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Memorizar las palabras clave: ACID, transacciones atómicas con Prepared Statements y restricciones CHECK en el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Agradecer a los profesores por su tiempo y evaluación, y dar paso formal a la ronda de preguntas, invitándolos a consultar cualquier aspecto del código, la base de datos o la contenerización.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0B981"/>
                </a:solidFill>
              </a:rPr>
              <a:t>PROYECTO DE GRADO &amp; DEFENSA TÉCNICA OFICIAL — MASTER EDITION (20 DIAPOSITIVAS)</a:t>
            </a:r>
          </a:p>
          <a:p>
            <a:pPr>
              <a:spcBef>
                <a:spcPts val="1000"/>
              </a:spcBef>
            </a:pPr>
            <a:r>
              <a:rPr b="1" sz="3400">
                <a:solidFill>
                  <a:srgbClr val="FFFFFF"/>
                </a:solidFill>
              </a:rPr>
              <a:t>PLATAFORMA E-COMMERCE OFICIAL
Y PANEL ADMINISTRATIVO BACKOFFICE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94A3B8"/>
                </a:solidFill>
              </a:rPr>
              <a:t>Arquitectura Desacoplada de 3 Niveles • Motor PostgreSQL 16 (ACID) en 3FN • Docker Compose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036289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525780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Autor &amp; Administrador del Sistema: </a:t>
            </a:r>
            <a:r>
              <a:rPr b="1" sz="1300">
                <a:solidFill>
                  <a:srgbClr val="2563EB"/>
                </a:solidFill>
              </a:rPr>
              <a:t>Daniel Campos  |  </a:t>
            </a:r>
            <a:r>
              <a:rPr sz="1100">
                <a:solidFill>
                  <a:srgbClr val="CBD5E1"/>
                </a:solidFill>
              </a:rPr>
              <a:t>Contacto: daniel@tienda.com
</a:t>
            </a:r>
          </a:p>
          <a:p>
            <a:r>
              <a:rPr b="1" sz="1100">
                <a:solidFill>
                  <a:srgbClr val="FFFFFF"/>
                </a:solidFill>
              </a:rPr>
              <a:t>Repositorio GitHub: </a:t>
            </a:r>
            <a:r>
              <a:rPr sz="1100">
                <a:solidFill>
                  <a:srgbClr val="94A3B8"/>
                </a:solidFill>
              </a:rPr>
              <a:t>https://github.com/LsCallejas/ecommerce-propuesta-visual  |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CONTEXTO Y DIAGNÓSTICO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Planteamiento del Problema en el Comercio Electrónico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Análisis de las vulnerabilidades y fallas críticas en los e-commerce tradicionales.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1. Inconsistencia de Inventario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Peligro de Sobreventa (Overselling)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Bases NoSQL y Eventual Consistency: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En campañas con alta concurrencia, bases de datos sin transacciones ACID permiten que múltiples usuarios compren el último producto disponible.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Falta de Constraints a Nivel de Motor: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Depender sólo de validaciones de frontend genera anomalías de stock negativo y reclamos de clientes.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2. Prototipos Efímeros y Frágiles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Persistencia No Garantizada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Proyectos Basados en Memoria: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Muchos desarrollos operan con mocks, arrays en memoria o SQLite, perdiendo todos los datos ante un reinicio del servidor.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Dependencia del Host: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Instalaciones manuales de bases de datos ensucian el sistema operativo y generan el problema de 'en mi máquina sí funciona'.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3. Trazabilidad Contable Rota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Corrupción de Historial Financiero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Modificación Retrógrada de Precios: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Al no normalizar los ítems de venta, si un producto sube de precio hoy, se alteran los registros contables de las ventas realizadas el mes pasado.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Carencia de Auditoría de Rentabilidad: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Imposibilidad de conciliar en tiempo real el costo de inversión frente a las ganancias netas.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PROPUESTA TÉCNICA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Objetivos del Proyecto: General y Específicos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Metas cuantitativas y cualitativas de ingeniería de software alcanzadas.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Objetivo General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Arquitectura Enterprise Desacoplada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471830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Diseñar, implementar y validar una plataforma de comercio electrónico integral y panel administrativo backoffice, fundamentada en una arquitectura desacoplada de 3 niveles contenerizada bajo Docker y respaldada por PostgreSQL 16 con cumplimiento estricto de transaccionalidad ACID y normalización en Tercera Forma Normal (3FN).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28800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Objetivos Específicos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Hitos de Ingeniería Cumplidos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1384" y="2560320"/>
            <a:ext cx="471830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1. Modelar una base de datos relacional robusta (7 tablas e índices B-Tree) que resuelva compras concurrentes y congele precios históricos de transacción.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2. Desarrollar un micro-backend REST API con Node.js Express y Connection Pooling eficiente para optimizar el uso de recursos.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3. Construir una interfaz web responsiva multi-arquetipo en Vanilla JS capaz de metamorfosear su diseño en caliente según la identidad del negocio.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4. Automatizar la orquestación e infraestructura mediante Docker Compose con volumen físico de datos inmutable.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ARQUITECTURA DE SOFTWARE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Topología Desacoplada de 3 Niveles en Docker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Aislamiento de responsabilidades mediante contenedores interconectados en red bridge.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Nivel 1: Capa Web (Frontend)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ecommerce_web_app (Puerto 8080)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Nginx 1.25 Alpine Linux: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Sirve la aplicación estática al cliente y al administrador.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Reverse Proxy Interno: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Intercepta peticiones dirigidas a '/api/*' y las redirige de forma transparente al micro-backend sin exponer puertos internos ni generar problemas de CORS.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Nivel 2: Capa API (Backend)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ecommerce_api_service (Puerto 3000)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Node.js 20 LTS + Express: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Expone endpoints RESTful con esquemas JSON estructurados.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Connection Pooling ('pg.Pool'):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Reutiliza un grupo cerrado de conexiones TCP hacia PostgreSQL, eliminando la sobrecarga de apertura de sockets por petición.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Nivel 3: Capa Datos (Database)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ecommerce_postgres_db (Puerto 5432)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PostgreSQL 16.15 Alpine Linux: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Motor relacional con transaccionalidad ACID.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Volumen Persistente 'postgres_data':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Persistencia física desacoplada del ciclo de vida de los contenedores para evitar pérdida de datos ante reinicios.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CAPA DE PRESENTACIÓN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Frontend Web Reactivo y Experiencia de Usuario (UI/UX)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Desarrollo sin frameworks pesados, garantizando máxima velocidad y rendimiento 100/100.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Core Tecnológico Limpio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Vanilla HTML5 / CSS3 / ES6+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Cero Dependencias Externas: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Sin peso de Node modules en el cliente ni hidratación pesada de React/Angular.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Carga Instantánea: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Tiempo de renderizado inicial inferior a 150 milisegundos gracias al empaquetado optimizado en Nginx Alpine.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Arquitectura de Estado Global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Manejador 'Storage' con Sincronización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Patrón Pub/Sub Local: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Control centralizado del catálogo, carrito de compras, sesión de usuario y tema activo.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Sincronización Híbrida Inteligente: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Comunica con la REST API de PostgreSQL en modo online y activa fallback seguro a localStorage si se desconecta la 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Experiencia Interactiva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Componentes y Telemetría en Vivo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Micro-Animaciones Modernas: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Diseño visual premium con modo oscuro, transiciones CSS suaves y tarjetas interactivas.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Indicador de Conexión en Tiempo Real: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Pastilla interactiva que informa el estado del motor PostgreSQL al usuario y al evaluador.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PERSONALIZACIÓN DINÁMICA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Motor Multi-Arquetipo: Metamorfosis Visual en Caliente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Capacidad de reconfigurar la identidad de marca de la tienda sin alterar una sola línea de código.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El Desafío de la Rigidez Visual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Costos en Plantillas Tradicionales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Dependencia del Desarrollador: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En comercios comunes, cambiar de nicho tecnológico a moda o gastronomía exige reconstruir plantillas y tocar código HTML/CSS.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Inconsistencia de Marca: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Falta de control centralizado sobre paletas de colores y tipografías.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Arquitectura con Variables CSS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CSS Custom Properties Dinámicas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Tokens de Diseño en Caliente: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El sistema inyecta dinámicamente variables globales (:root) que controlan: --primary-color, --accent-glow, --font-family y --border-radius.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Arquetipos Preconfigurados: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Moderno / Tech, Boutique / Moda de Lujo, Gourmet / Café de Especialidad.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Persistencia en PostgreSQL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Tabla 'store_config'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Sincronización en Base de Datos: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Cualquier cambio de estilo, logotipo o banner realizado en el panel administrativo se persiste inmediatamente en PostgreSQL.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Propagación Inmediata: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Todos los clientes que navegan la tienda reciben la nueva imagen sin recargar archivos estáticos.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CAPA DE SERVICIOS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Micro-Backend REST API con Node.js y Express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Controlador transaccional liviano, modular y diseñado para alta concurrencia.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Estructura de Endpoints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Arquitectura RESTful Estandarizada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GET /api/health: Diagnóstico en vivo de la conexión con PostgreSQL y métricas del sistema.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GET / POST / DELETE /api/products: CRUD completo del inventario con validaciones.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GET / POST / PATCH /api/orders: Registro de compras y cambio de estado de pedidos.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Manejo de Errores y Middleware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Resiliencia Operativa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Middlewares Centralizados: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Parsing automático de cuerpos JSON, cabeceras de seguridad CORS y trazabilidad de peticiones mediante logs.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Códigos de Estado HTTP Correctos: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Respuestas estandarizadas (200 OK, 201 Created, 400 Bad Request, 404 Not Found, 500 Internal Error).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Aislamiento en Red Docker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Seguridad por Contención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Puerto 3000 No Expuesto: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La API sólo escucha dentro de la red privada 'ecommerce_network'.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Acceso Exclusivo Nginx: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Únicamente el contenedor web puede comunicarse con la API, previniendo ataques externos directos al backend.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SEGURIDAD Y RENDIMIENTO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Optimización de Conexiones y Seguridad de Datos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Gestión eficiente de recursos y protección exhaustiva contra vectores de ataque.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Connection Pooling ('pg.Pool')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Reutilización de Hilos TCP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Problema Tradicional: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Abrir y cerrar una conexión TCP a la base de datos por cada clic consume ciclos de CPU y satura la RAM del motor.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Nuestra Solución: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Pool compartido de máximo 20 conexiones persistentes que se asignan y liberan en milisegundos, soportando miles de usuarios concurrentes.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Blindaje contra SQL Injection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Prepared Statements Obligatorios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Consultas Parametrizadas: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Ningún dato introducido por el cliente se concatena en las sentencias SQL. Se utiliza la sintaxis $1, $2, $3 con argumentos separados.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Tipado Estricto: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PostgreSQL analiza la estructura léxica de la consulta antes de enlazar los valores, neutralizando inyecciones maliciosas.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Control de Acceso RBAC y Hash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Protección de Identidades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Roles Estrictos (RBAC):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Separación tajante entre 'admin' (Daniel Campos) y 'cliente' mediante restricciones CHECK.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Cifrado de Contraseñas: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Hashes criptográficos Bcrypt unidireccionales que garantizan la confidencialidad absoluta de las credenciales.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PERSISTENCIA DE DATOS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Capa de Base de Datos: Justificación Técnica de PostgreSQL 16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Por qué un motor relacional transaccional es la elección idónea frente a NoSQL.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Garantías ACID Innegociables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Propiedades del Núcleo Transaccional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Atomicidad (A): Toda la compra se procesa completa o no se procesa nada (ROLLBACK).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Consistencia (C): Ningún pedido viola claves foráneas o stock negativo.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Aislamiento (I): Transacciones concurrentes no interfieren entre sí.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Durabilidad (D): Los datos se escriben a disco en el volumen de Docker.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Comparativa: PostgreSQL vs NoSQL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¿Por qué descartamos MongoDB?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Consistencia Eventual NoSQL: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En compras masivas, MongoDB puede registrar dos órdenes sobre un mismo producto antes de sincronizar réplicas.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Rigor Relacional PostgreSQL: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Las ventas exigen balance contable estricto, integridad referencial y relaciones matemáticas N:M que PostgreSQL resuelve de forma nativa.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Motor PostgreSQL 16 Alpine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Eficiencia y Portabilidad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Versión 16.15 Oficial: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Última generación con mejoras de rendimiento en índices B-Tree y consultas paralelas.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Imagen Alpine Linux: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Contenedor ultraligero de apenas 80 MB con superficie mínima de ataque para mayor seguridad.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MODELADO RELACIONAL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Normalización de Base de Datos: Aplicación de la 3FN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Eliminación metódica de redundancias y prevención de anomalías de actualización.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Primera Forma Normal (1FN)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Atomicidad y Unicidad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Atributos Atómicos: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Cada columna almacena un único valor indivisible (se eliminaron listas o strings concatenados).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Claves Primarias Únicas: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Cada registro se identifica unívocamente mediante claves primarias (id SERIAL o VARCHAR unívoco).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Sin grupos repetitivos de columnas.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Segunda Forma Normal (2FN)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Dependencia Funcional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Cumplimiento de 1FN previo.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Dependencia Total de la PK: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Todos los atributos no clave dependen en su totalidad de la clave primaria completa.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Separación de Entidades: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Los datos de proveedores, productos y compras se dividieron en tablas independientes.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Tercera Forma Normal (3FN)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Sin Dependencias Transitivas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Cumplimiento de 2FN previo.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Eliminación de Transitividad: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Ningún campo no clave depende de otro campo no clave. (Ej. el nombre del proveedor no reside en 'products', sino en 'suppliers' mediante supplier_id).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Cero redundancias y anomalías de borrado.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DICCIONARIO DE DATOS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Estructura de Tablas: Catálogo y Cadena de Suministro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Campos, restricciones de integridad y relaciones foráneas de inventario.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Tabla 'products'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Catálogo Central y Existencias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id: SERIAL PRIMARY KEY.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sku: VARCHAR(60) UNIQUE (Código de barras).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slug: VARCHAR(200) UNIQUE (URL amigable).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cost_price: DECIMAL(10,2) CHECK &gt;= 0.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sale_price: DECIMAL(10,2) CHECK &gt; 0.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stock: INT DEFAULT 0 CHECK (stock &gt;= 0).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supplier_id: VARCHAR(50) REFERENCES suppliers(id) ON DELETE SET NULL.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Tabla 'suppliers'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Fabricantes y Distribuidores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id: VARCHAR(50) PRIMARY KEY.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name: VARCHAR(200) NOT NULL (Nombre comercial).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contact_person: VARCHAR(150) (Representante).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terms: VARCHAR(100) (Crédito 30 días, Contado).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rating: VARCHAR(50) (Calificación del proveedor).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total_invested: DECIMAL(12,2) (Inversión acumulada).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Reglas de Negocio en Motor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Integridad Referencial Estricta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Protección de Stock: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La restricción CHECK (stock &gt;= 0) impide que un bug de código guarde existencias negativas en la base de datos.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Desvinculación Segura: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ON DELETE SET NULL asegura que si se borra un proveedor, sus productos siguen existiendo en el catálogo.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DICCIONARIO DE DATOS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Estructura de Tablas: Ventas, Compras y Detalles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Resolución de la relación N:M y congelación de precios históricos.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Tabla 'orders'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Cabecera de Ventas a Clientes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id: VARCHAR(50) PRIMARY KEY (Ej. ORD-2026-001).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customer_name, customer_email, phone, address.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subtotal, shipping, total: DECIMAL(10,2).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status: VARCHAR(30) CHECK ('Pendiente', 'En Preparación', 'Enviado', 'Entregado').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payment_method: VARCHAR(80) (Pago Móvil, Zelle, Transferencia).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Tabla 'order_items'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Detalle de Venta (Relación N:M)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id: SERIAL PRIMARY KEY.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order_id: VARCHAR(50) REFERENCES orders(id) ON DELETE CASCADE.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product_id: INT REFERENCES products(id) ON DELETE SET NULL.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quantity: INT CHECK (quantity &gt; 0).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unit_price: DECIMAL(10,2) NOT NULL.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subtotal: DECIMAL(10,2) NOT NULL.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Tabla 'purchases'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Lotes de Abastecimiento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id: VARCHAR(50) PRIMARY KEY (Ej. INV-2026-001).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supplier_id: VARCHAR(50) REFERENCES suppliers(id) ON DELETE CASCADE.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units: INT CHECK (units &gt; 0).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amount: DECIMAL(12,2) CHECK (amount &gt;= 0).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receipt: VARCHAR(80) (Número de factura fiscal).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INTELIGENCIA DE NEGOCIO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Vista Analítica SQL: 'v_inventory_financials'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Auditoría financiera automatizada y cálculo dinámico de márgenes comerciales.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El Concepto de Vista SQL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Cálculo en Caliente sin Redundancia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Sin Duplicación de Datos: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En lugar de recalcular márgenes con bucles lentos en el servidor web, PostgreSQL calcula la vista instantáneamente al ser consultada.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Unificación de Entidades: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Combina en tiempo real las tablas 'products' y 'suppliers' mediante un LEFT JOIN eficiente.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Fórmulas Matemáticas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Lógica Financiera Integrada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Ganancia Unitaria: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unit_profit = (p.sale_price - p.cost_price)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Margen Comercial Porcentual: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margin_% = ROUND(((sale_price - cost_price) / sale_price) * 100, 2)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Inventario Valorado: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total_cost = (cost_price * stock)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total_revenue = (sale_price * stock)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Impacto en la Toma de Decisiones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Reportes Gerenciales Instantáneos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Consulta Directa: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SELECT * FROM v_inventory_financials ORDER BY margin_percentage DESC;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Utilidad para el Administrador: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Daniel Campos puede saber de inmediato cuáles productos tienen el mejor retorno de inversión (ROI) y cuánto capital tiene inmovilizado.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OPTIMIZACIÓN DE RENDIMIENTO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Estrategia de Indexación B-Tree: Complejidad O(log n)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Garantizando tiempos de respuesta ultrarrápidos aun con cientos de miles de registros.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Búsqueda Secuencial vs B-Tree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El Salto de O(n) a O(log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Sin Índices (Table Scan O(n)):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PostgreSQL debe revisar registro por registro en el disco, provocando latencia inaceptable cuando el catálogo crece.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Con Índices B-Tree (O(log n)):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Crea un árbol balanceado que permite ubicar cualquier fila en solo 3 o 4 lecturas de nodo.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Los 5 Índices Implementados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Optimización Específica por 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1. idx_products_sku: Búsqueda instantánea en almacén por SKU.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2. idx_products_category: Filtrado veloz en catálogo.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3. idx_orders_status: Consulta ágil de órdenes pendientes.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4. idx_orders_date: Reportes cronológicos de ventas.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5. idx_users_email: Autenticación de login en milisegundos.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Resultados en Escalabilidad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Validación en Producción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Tiempos de Búsqueda: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Reducción del tiempo de respuesta de consultas complejas a menos de 5 milisegundos.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Mantenimiento Ligero: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PostgreSQL rebalancea los árboles B-Tree automáticamente en cada inserción o modificación.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FLUJO DE DATOS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Diagrama de Secuencia: Transaccionalidad en el Checkout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El ciclo de vida completo desde el carrito de compras hasta el COMMIT en PostgreSQL.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Paso 1: Checkout en Frontend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Validación en el Navegador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El cliente confirma la compra en el carrito reactivo. JavaScript valida campos obligatorios (nombre, email, dirección, método de pago) y emite un POST asíncrono a '/api/orders'.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28800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Paso 2: Enrutamiento Nginx &amp; Express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Proxy Seguro y Sanitización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423160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Nginx recibe la petición en el puerto 8080 y la redirige internamente a la API en el puerto 3000. Express sanitiza los parámetros y solicita una conexión al Connection Pool.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Paso 3: Bloque Transaccional ACID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Ejecución Atómica en Base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79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Se inicia un bloque BEGIN en PostgreSQL: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1. INSERT en tabla 'orders'.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INSERT de líneas en 'order_items'.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3. UPDATE en 'products' descontando stock: (stock = stock - qty).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3977639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160519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Paso 4: Validación y COMMIT / ROLLBACK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Garantía de Cero Overselling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4754879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Si el stock es suficiente, se ejecuta COMMIT y la orden queda confirmada. Si el stock no alcanza, la restricción CHECK (stock &gt;= 0) dispara un ROLLBACK automático sin alterar nada.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DEVOPS E INFRAESTRUCTURA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Contenerización con Docker Compose y Red Bridge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Aislamiento de servicios, paridad de entornos y persistencia física en volumen.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Orquestación Multi-Contenedor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docker-compose.yml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3 Servicios Coordinados: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'db' (PostgreSQL 16), 'api' (Express Node.js 20) y 'web' (Nginx 1.25 Alpine).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Políticas de Resiliencia: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'restart: unless-stopped' y healthchecks automáticos con 'pg_isready' y endpoints HTTP.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Red Privada 'ecommerce_network'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Aislamiento Bridge Seguro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Resolución DNS Interna: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Los contenedores se comunican por nombre de servicio ('db:5432', 'api:3000') sin exponer IPs dinámicas.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Seguridad Perimetral: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Únicamente los puertos necesarios (8080 y 5432) se enlazan con el sistema operativo host.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Persistencia en Volumen Físico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'ecommerce_postgres_data'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Desacoplamiento de Ciclo de Vida: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Los datos no residen dentro del contenedor efímero, sino en un volumen Docker gestionado en el almacenamiento físico del host.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Inmunidad ante Reinicios: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'docker compose down' puede destruir contenedores, pero la base de datos permanece intacta.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MANUAL DE PUESTA EN MARCHA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Guía Paso a Paso para Despliegue en Windows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Instrucciones para que cualquier evaluador pueda ejecutar el proyecto desde cero.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Paso 1: Habilitar WSL 2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Kernel Linux en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1. Abrir PowerShell como Administrador.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Ejecutar: wsl --install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3. Reiniciar el equipo y definir usuario/password de Ubuntu.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4. Verificar con 'wsl -l -v' que Ubuntu opere en versión 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28800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Paso 2: Disponer de Docker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Entorno de Ejecución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423160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Opción A (Recomendada): Instalar Docker Desktop con la opción 'Use WSL 2 based engine' activada.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Opción B: Instalar Docker nativo en Ubuntu WSL (sudo apt install docker.io docker-compose).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Paso 3: Inicio en 1 Clic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docker-iniciar.bat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79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Hacer doble clic en 'docker-iniciar.bat'. El script híbrido detecta el motor de Docker, levanta los servicios, inicializa la base de datos y abre el navegador en http://localhost:8080.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3977639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160519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Paso 4: Accesos y Credenciales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Pruebas de Acceso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4754879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Tienda: http://localhost:8080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Admin: http://localhost:8080/admin.html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Admin: admin@tienda.com / admin123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Cliente: cliente@tienda.com / 123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DEMOSTRACIÓN PRÁCTICA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Secuencia de Alto Impacto para la Defensa Técnica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4 acciones cronometradas en vivo que comprueban la reactividad y persistencia real.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Acción 1: Creación de Producto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Sincronización Web -&gt;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1. En el panel admin crear un producto con SKU.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Ejecutar 'consultar_resumen_db.bat'.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Resultado: El nuevo producto aparece instantáneamente en PostgreSQL con su ID serial y existencia.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28800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Acción 2: Modificación de Orden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Trazabilidad Transaccional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423160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1. En panel admin cambiar una orden de 'Pendiente' a 'Enviado'.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Consultar en psql: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SELECT id, status FROM orders;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Resultado: El campo status se actualizó en disco con total fidelidad.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Acción 3: Prueba de Fuego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Tolerancia a Fallos y Persistencia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79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1. Ejecutar 'docker-detener.bat' (la web se cae).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Ejecutar 'docker-iniciar.bat'.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Resultado: Toda la información creada sigue presente gracias al volumen 'ecommerce_postgres_data'.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3977639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160519"/>
            <a:ext cx="47183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Acción 4: Telemetría y Vista SQL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Inspección en Caliente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4754879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1. Clic en la pastilla 'PostgreSQL 16 (En Vivo)' en la barra superior para ver contadores.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Ejecutar en SQL: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SELECT * FROM v_inventory_financials; para mostrar el reporte financiero calculado.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rial"/>
              </a:rPr>
              <a:t>DEFENSA ACADÉMICA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Banco de Preguntas Típicas del Jurado y Respuestas Senior</a:t>
            </a:r>
          </a:p>
          <a:p>
            <a:r>
              <a:rPr sz="1100">
                <a:solidFill>
                  <a:srgbClr val="64748B"/>
                </a:solidFill>
                <a:latin typeface="Arial"/>
              </a:rPr>
              <a:t>Argumentación técnica fundamentada para responder con máxima solvencia.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¿Por qué PostgreSQL y no NoSQL?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Integridad vs Consistencia Eventual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"En comercio electrónico, la integridad del dinero y del inventario no es negociable. Las bases NoSQL aplican consistencia eventual, propensas a sobreventa (overselling). PostgreSQL nos brinda transacciones ACID completas, restricciones CHECK y claves foráneas estrictas."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¿Cómo evitan compras duplicadas?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Aislamiento de Fila y 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"Mediante transacciones atómicas con bloqueo de fila y la restricción nativa CHECK (stock &gt;= 0). Si dos clientes intentan comprar la última unidad al mismo tiempo, el motor rechaza la segunda operación inmediatamente y genera un ROLLBACK automático sin tocar el stock."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¿Cómo se protegen de Inyección SQL?</a:t>
            </a:r>
          </a:p>
          <a:p>
            <a:r>
              <a:rPr sz="950">
                <a:solidFill>
                  <a:srgbClr val="64748B"/>
                </a:solidFill>
                <a:latin typeface="Arial"/>
              </a:rPr>
              <a:t>Prepared Statements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5603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"En la API Node.js Express utilizamos exclusivamente consultas parametrizadas con el driver oficial 'pg'. Ningún dato del usuario se concatena en la cadena SQL ($1, $2, etc.); PostgreSQL trata los argumentos estrictamente como valores literales sanitizados."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CONCLUSIONES, ROADMAP A PRODUCCIÓN Y CIERRE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  <a:latin typeface="Arial"/>
              </a:rPr>
              <a:t>Plataforma de Comercio Electrónico de Grado Enterprise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CBD5E1"/>
                </a:solidFill>
                <a:latin typeface="Arial"/>
              </a:rPr>
              <a:t>✔ Arquitectura Modular Validada:
Desacoplamiento estricto de 3 niveles con Nginx, Express y PostgreSQL 16.
✔ Cumplimiento Riguroso de la 3FN:
Cero redundancias, integridad referencial protegida y congelación contable de precios históricos.
✔ Portabilidad y Persistencia Demostrada:
Orquestación contenerizada con volumen inmutable y scripts de ejecución en 1 clic en Windows/WSL.
✔ Roadmap a Producción:
Despliegue preparado para la nube (AWS EC2 / DigitalOcean), certificados SSL con Let's Encrypt y CI/CD en GitHub.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1036289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544068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¡Muchas gracias por su atención!  </a:t>
            </a:r>
            <a:r>
              <a:rPr sz="1400">
                <a:solidFill>
                  <a:srgbClr val="10B981"/>
                </a:solidFill>
              </a:rPr>
              <a:t>— Sesión de Preguntas y Respuestas Abierta
</a:t>
            </a:r>
            <a:r>
              <a:rPr sz="1100">
                <a:solidFill>
                  <a:srgbClr val="94A3B8"/>
                </a:solidFill>
              </a:rPr>
              <a:t>Daniel Campos  •  daniel@tienda.com  •  https://github.com/LsCallejas/ecommerce-propuesta-visual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